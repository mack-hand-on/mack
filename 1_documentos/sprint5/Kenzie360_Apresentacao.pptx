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Conversas resolvidas no total (bot + humano)</c:v>
                </c:pt>
              </c:strCache>
            </c:strRef>
          </c:tx>
          <c:spPr>
            <a:solidFill>
              <a:srgbClr val="57617A"/>
            </a:solidFill>
            <a:ln w="31750" cap="flat">
              <a:solidFill>
                <a:srgbClr val="57617A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D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7617A"/>
              </a:solidFill>
              <a:ln w="9525" cap="flat">
                <a:solidFill>
                  <a:srgbClr val="5761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fev</c:v>
                  </c:pt>
                  <c:pt idx="1">
                    <c:v>mar</c:v>
                  </c:pt>
                  <c:pt idx="2">
                    <c:v>abr</c:v>
                  </c:pt>
                  <c:pt idx="3">
                    <c:v>mai</c:v>
                  </c:pt>
                  <c:pt idx="4">
                    <c:v>jun</c:v>
                  </c:pt>
                  <c:pt idx="5">
                    <c:v>jul</c:v>
                  </c:pt>
                  <c:pt idx="6">
                    <c:v>ago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62.31</c:v>
                </c:pt>
                <c:pt idx="1">
                  <c:v>58.22</c:v>
                </c:pt>
                <c:pt idx="2">
                  <c:v>58.64</c:v>
                </c:pt>
                <c:pt idx="3">
                  <c:v>57.39</c:v>
                </c:pt>
                <c:pt idx="4">
                  <c:v>54.79</c:v>
                </c:pt>
                <c:pt idx="5">
                  <c:v>54.84</c:v>
                </c:pt>
                <c:pt idx="6">
                  <c:v>55.41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Resolvidas pela Kenzie sozinha</c:v>
                </c:pt>
              </c:strCache>
            </c:strRef>
          </c:tx>
          <c:spPr>
            <a:solidFill>
              <a:srgbClr val="2B5A8A"/>
            </a:solidFill>
            <a:ln w="31750" cap="flat">
              <a:solidFill>
                <a:srgbClr val="2B5A8A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D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B5A8A"/>
              </a:solidFill>
              <a:ln w="9525" cap="flat">
                <a:solidFill>
                  <a:srgbClr val="2B5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fev</c:v>
                  </c:pt>
                  <c:pt idx="1">
                    <c:v>mar</c:v>
                  </c:pt>
                  <c:pt idx="2">
                    <c:v>abr</c:v>
                  </c:pt>
                  <c:pt idx="3">
                    <c:v>mai</c:v>
                  </c:pt>
                  <c:pt idx="4">
                    <c:v>jun</c:v>
                  </c:pt>
                  <c:pt idx="5">
                    <c:v>jul</c:v>
                  </c:pt>
                  <c:pt idx="6">
                    <c:v>ago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30.92</c:v>
                </c:pt>
                <c:pt idx="1">
                  <c:v>26.82</c:v>
                </c:pt>
                <c:pt idx="2">
                  <c:v>26.72</c:v>
                </c:pt>
                <c:pt idx="3">
                  <c:v>25.81</c:v>
                </c:pt>
                <c:pt idx="4">
                  <c:v>23.62</c:v>
                </c:pt>
                <c:pt idx="5">
                  <c:v>23.08</c:v>
                </c:pt>
                <c:pt idx="6">
                  <c:v>22.49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D33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61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DAE0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61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ILAN · 25s.
"A Kenzie e a assistente virtual que atende os clientes deste banco pelo WhatsApp. Ela funciona, e hoje ela nao tem memoria: cada conversa comeca do zero e nenhuma delas vira aprendizado.
O Kenzie 360 nao e um bot novo. E o cerebro que o bot consulta - a camada que guarda o historico, estima o risco de a conversa nao dar certo e devolve isso para a operacao decidir."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ILAN · 40s.
"Somos tres pessoas e cinco frentes de trabalho, entao todo mundo acumulou papel. Eu vim de Economia e de produto bancario e acabei conduzindo a modelagem. A Gi fez a analise e o painel, e virou o controle de qualidade do grupo. O Jhonny construiu toda a plataforma na nuvem por codigo.
E o aprendizado que vale citar: os tres erros graves que a gente corrigiu nasceram nas fronteiras entre as frentes - ninguem erra sozinho dentro da propria especialidade."
SE PERGUNTAREM DO USO DE IA: esta declarado no documento de trilhas de carreira. A ferramenta escreveu a maior parte do codigo. Em dois dos tres erros que a gente pegou, o numero errado tinha saido dela sem nenhum alerta - por isso a revisao humana e obrigatoria no nosso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ILAN · 70s.
"O problema em uma frase: a Kenzie sabe informar e nao sabe resolver.
De cada quatro conversas, ela resolve uma sozinha. E quando a gente separa por tipo de pedido, fica claro por que: informacao ela resolve em quase metade dos casos; acao - desbloquear um PIX, mudar um limite - ela resolve em um de cada cinco. E acao e quase metade de tudo que o cliente pede.
O segundo numero e o mais desconfortavel: o atendimento humano tambem falha, em 15,9% dos casos que chegam nele. Entao nao e um problema de bot, e um problema de processo.
E o terceiro e o que ninguem ve: 8.391 conversas nao chegam a ninguem. O cliente desiste em quatro minutos e meio. Isso e 27% da demanda que nao aparece em nenhum relatorio, porque nunca virou ticket."
SE PERGUNTAREM DOS 15,9%: na nossa primeira publicacao esse numero era 32,0%. O denominador estava errado. A Gi refez a conta, a gente corrigiu e retratou duas conclusoes que dependiam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GIOVANNA · 70s.
"Este e o grafico mais importante do diagnostico. A linha de baixo e o que a Kenzie resolve sozinha: cai de 30,9% para 22,5% em sete meses, sem nenhuma mudanca no bot.
A explicacao e o desgaste do cliente. No comeco da serie, quase todo mundo e primeiro contato. Conforme os meses passam, a carteira acumula gente que ja tentou, ja se irritou - e o bot continua respondendo do mesmo jeito, porque nao sabe que aquela pessoa ja voltou.
E repare que a linha de cima, a resolucao total, cai bem menos. Isso significa que o humano esta absorvendo a queda do bot."
RESSALVA OBRIGATORIA: esse desgaste acumulado e uma premissa que nos mesmos modelamos no gerador da base e publicamos como parametro. O grafico dimensiona a premissa - ele nao a descobre.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ILAN · 65s.
"Diante desse diagnostico, a gente chegou em tres mudancas - e nenhuma delas e trocar o bot.
Primeira: dar memoria. Hoje a Kenzie nao sabe que aquele cliente ja voltou quatro vezes pelo mesmo motivo. Guardar o historico por cliente e a base de tudo.
Segunda: prever antes de falhar. No minuto zero da conversa, com o que ja se sabe naquele momento, estimar a chance de a Kenzie nao resolver.
Terceira, e a que faz a diferenca: transformar a previsao em decisao. Uma nota que ninguem usa nao vale nada. A nota entra na operacao como ordem de fila.
E e importante dizer o que ficou fora de proposito: a gente nao propoe trocar o bot, nem contratar mais gente, nem prometer que a Kenzie passe a executar o que hoje ela nao executa. A proposta cabe na operacao que ja existe."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JONATHAS · 70s.
"Este e o desenho da arquitetura. Da esquerda para a direita: o export das conversas chega como arquivo, a gente guarda o original datado no Cloud Storage, e dali ele sobe para o BigQuery em tres camadas.
Bronze e copia fiel: nada convertido, e cada linha sabe de qual arquivo veio. Silver e o dado limpo, sem duplicidade e sem dado pessoal. Gold sao quinze visoes prontas - e a definicao de cada metrica vive em um lugar so, entao o painel e o modelo leem exatamente o mesmo numero.
A direita estao os tres consumidores: o painel da Gi, o modelo, e o simulador. O modelo le a silver e devolve a nota pronta na gold, entao a operacao nunca calcula nada - ela so le.
E por baixo de tudo: Terraform e GitHub Actions. Nada foi clicado no console. Toda mudanca passa por validar, simular, aprovacao humana e aplicar."
SE PERGUNTAREM O NOME TECNICO: e arquitetura medalhao - raw, bronze, silver e gold - com autenticacao por Workload Identity Federation, sem chave de longa duracao.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JONATHAS · 55s.
"O escopo pede quatro controles, e eu traduzo cada um em uma pergunta.
Quem pode ver: cada camada tem permissao propria, entao quem le o dado limpo nao tem acesso ao texto original da conversa.
De onde veio: toda linha sabe de qual arquivo veio e quando entrou. Provar origem e metade da governanca num banco.
Se esta certo: o formato e declarado antes da carga. Se a origem mudar de formato, a carga quebra e avisa, em vez de passar errado silenciosamente. E o modelo tem uma lista de 18 colunas proibidas que aborta o script se alguma delas entrar.
Dado pessoal: nao existe em nenhuma camada. E mascarado antes de gravar - nao e anonimizar depois, e nao gravar.
E o que prova que isso funciona nao e a lista: sao os seis erros que esses controles pegaram, inclusive duas conclusoes que a gente publicou e depois retratou."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ILAN · 70s.
"A pergunta do modelo e esta: qual a chance de a Kenzie nao conseguir resolver esta conversa sozinha.
Tres detalhes importam. Primeiro, QUANDO a conta e feita: no minuto zero, quando a conversa abre. Se a nota saisse no fim, ela nao serviria para decidir nada.
Segundo, COM O QUE: treze informacoes que ja existem na abertura. As que mais pesam sao quantas vezes esse cliente ja voltou e se o caso e uma reabertura - ou seja, exatamente a memoria que o bot nao tinha.
Terceiro, o que sai: um numero de zero a um, gravado junto com a conversa.
E eu preciso contar o modelo anterior. A gente tinha um classificador de intencao com 99,99% de acerto. Quando o senhor perguntou de onde vinha esse numero, nao soubemos responder - e fomos medir. Ele estava lendo o assunto num texto que o proprio sistema tinha escrito a partir do assunto. Ele descobria uma resposta que ja estava na tabela. A gente descartou e trocou por esta pergunta, que e mais modesta e da para defender inteira."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ILAN · 85s. ESTE E O SLIDE MAIS IMPORTANTE PARA A BANCA.
"A gente escolheu o modelo mais simples da lista, e a vantagem esta exatamente ai. Num banco, uma decisao que nao se explica nao pode ser usada.
Primeiro: a conta pode ser lida linha por linha. O modelo e uma soma de pesos, um peso por informacao. Entao eu consigo dizer por que ESTA conversa recebeu 0,85 e nao 0,60, e qual pedaco da nota veio de qual informacao.
Segundo: qualquer pessoa refaz a conta sem o nosso ambiente. Os 49 pesos estao publicados. A demonstracao do fim roda a mesma conta dentro do navegador, sem servidor - um auditor consegue conferir uma nota com o arquivo na mao.
Terceiro: mesmo dado, mesmo numero. A gente reproduziu em duas maquinas diferentes e bateu ate a quarta casa. E a separacao treino e teste e por cliente, com zero clientes em comum, entao o modelo nao decorou ninguem.
Quarto: da para provar o que ficou fora. Sao 18 colunas proibidas - tudo que so existe depois do fim da conversa, e tudo que identifica a pessoa. Se uma entrar, o script para.
E nao custou desempenho: testamos sete modelos mais complexos e nenhum superou. Entao a caixa-preta traria custo de explicacao sem ganho de acerto."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GIOVANNA · 70s.
"A medida do modelo e o AUC, e ela tem uma leitura simples: pegue duas conversas, uma que falhou e uma que deu certo. Em 67 de cada 100 desses pares, o modelo da a nota maior para a que falhou. Ou seja, ele ORDENA - e ordenar e o que a fila precisa.
A regua mostra onde a gente esta. A esquerda, 0,50, e o acaso: cara ou coroa. A direita, 0,6736, e o maximo que esta base permite - e a gente sabe esse numero porque nos escrevemos o gerador da base e conhecemos a regra que sorteia o desfecho. Calculamos o teto ANTES de treinar.
O nosso modelo da 0,6729. A distancia para o teto e 0,0007: capturamos 99,6% de todo o sinal que existe aqui. O que falta nao e modelo melhor, e acaso.
E o cartao do meio da esquerda explica por que a gente nao fala em acerto: chutando 'nao resolve' em toda conversa ja se acerta 70,5%."
SE PERGUNTAREM SE 0,67 E BAIXO: num dado real esse teto seria outro, provavelmente maior, porque existe mais informacao do que a que a gente simulou. O que o numero diz e que, nesta base, nao ha mais o que capturar.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GIOVANNA · 50s.
"A nota vira decisao em tres faixas: deixar com a Kenzie, colocar em observacao, ou encaminhar agora.
E os cortes nao sairam da estatistica - sairam da capacidade real que a gente mediu: 11,8 atendimentos por pessoa por dia, 74% de uso medio da equipe, 123% no pico.
O numero de baixo e o mais importante da apresentacao: Medio mais Alto somam 73,1% da fila, e a operacao ja encaminha 73,8% dos casos ao humano hoje. Entao o modelo nao pede mais gente. Ele pede que a mesma fila seja atendida em outra ordem - e a faixa Baixo, que e um quarto da fila, e onde a Kenzie mais resolve."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GIOVANNA · 55s. ESTE SLIDE EXISTE PARA RESPONDER 'DE ONDE VEIO ESSE NUMERO'.
"A cadeia comeca em 36.000 conversas. Tiramos 4.958 que sao disparo ativo e ruido - nunca geram atendimento - e ficamos com 31.042 demandas reais. Esse e o nosso denominador em tudo.
Dessas, a Kenzie resolve 9.084, que sao os 25,2% que apareceram la no inicio. Sobram 21.958 nao resolvidas, e elas se dividem em dois bracos: 13.567 chegam a um humano depois de 13,1 minutos de menu - multiplicando da 2.966 horas de espera no semestre - e 8.391 nao chegam a ninguem, que sao os 27%.
E a tabela de baixo e a decisao: quanto da fila a gente encaminha direto. Escolhemos a faixa Alto: devolve 1.142 horas e incomoda 434 pessoas a toa. Se a operacao preferir ser mais conservadora, o corte de 20% devolve 699 horas incomodando 234. E uma decisao de negocio, e o modelo so mostra o trade-off."
SE PERGUNTAREM DOS 13,1 MIN: e o tempo entre a primeira mensagem e a primeira fala do atendente. A duracao total da conversa e 24,5 min, mas essa inclui o atendimento humano - nao seria honesto chamar de espera evitavel.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ILAN · 10s de fala e ja troca para o navegador.
"Para fechar, o modelo rodando. Nao e maquete: sao os 49 pesos do modelo treinado, e a conta e a mesma do notebook."
A SEQUENCIA DA DEMO - 2,5 min, ensaiar duas vezes:
1. Mostrar a tela parada. Esquerda, o que o cliente ve no WhatsApp. Direita, o que o banco ve. O cliente nao sabe que existe uma nota.
2. Apontar a nota: 0,701, faixa Medio. Cliente CDE, assunto Cambio, primeiro contato. Fila de observacao.
3. Clicar 'o cliente volta' cinco vezes, devagar, narrando: 0,725... 0,746... 0,786... e no quinto: 0,848. Cruzou para Alto.
4. Parar na tarja. A mesma pessoa, no mesmo assunto, no mesmo horario. So voltou cinco vezes. E a decisao mudou de 'fila de observacao' para 'encaminhar agora'. E da para dizer de onde vieram esses 0,15: do contador de contatos, porque nada mais mudou na tela.
5. Digitar texto livre. A Kenzie responde 'nao consegui entender'. E o que a Kenzie de hoje faz: o assunto vem do botao, nao do texto. E e exatamente por isso que o classificador de intencao e a nossa proxima evolucao - nao um pre-requisito.
SE CAIR A INTERNET: o arquivo roda local, sem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ILAN · 45s.
"Fechando com o que isso entrega.
Primeiro: 1.142 horas de espera devolvidas no semestre, encaminhando direto a faixa Alto. Sem contratar ninguem - a operacao ja encaminha 73,8% dos casos ao humano, entao o que muda e a ordem, nao o volume.
Segundo: 8.391 conversas que hoje ninguem ve. O cliente que desiste em quatro minutos e meio nunca abriu ticket e nao existe em relatorio nenhum. O modelo da a esse grupo a nota media mais alta das tres faixas.
Terceiro, e talvez o mais util para o negocio: metade de toda a espera do semestre esta em tres assuntos - bloqueio de TED e PIX, onboarding e cambio. Isso e um roteiro de produto, em ordem de prioridade, que sai de graca da mesma base.
E tudo isso com decisoes que podem ser abertas fator a fator.
A gente declara os limites: a base e sintetica, duas das premissas sao nossas, e duas entregas estao demonstradas e nao em producao. Obrigado."
SE PERGUNTAREM QUANTO ISSO E EM PESSOAS: 1.142 h no semestre sao ~2.284 h/ano; pela mesma conta do briefing (11.106 h/ano = 6,3 FTE, ou seja 1.763 h por pessoa/ano), da cerca de 1,3 pessoa em tempo integral. E conta de guardanapo, feita na hora - nao esta nos documentos.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- nao apresentar na sequencia. Ocultar no PowerPoint (botao direito no slide, 'Ocultar Slide') e usar so se a banca perguntar sobre limites, validade dos resultados ou continuidade.
Se perguntarem 'e se fosse dado real?': a pipeline nao muda - o que muda e o arquivo de entrada e o teto da base, que provavelmente seria maior, porque dado real carrega mais informacao do que a que a gente simulou.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E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ENGENHARIA DE DADOS · UNIVERSIDADE PRESBITERIANA MACKENZIE ·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Kenzie 360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memória e capacidade de decisão à assistente virtual de um banco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564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 clientes CDE — Conta de Domiciliado no Exterior, não residentes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 David Schapira   ·   Giovanna Caetano Protti   ·   Jonathas Borges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681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Orientação: Prof. Gustavo Ferreira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FEZ O QUÊ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pessoas, três frentes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052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755648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066544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Negócio, produto e modelagem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670048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Definiu a pergunta do modelo, treinou e defendeu os números. Vem de Economia e de produto bancário — não de tecnologia.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8160" y="1572768"/>
            <a:ext cx="35052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7616" y="1755648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47616" y="2066544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Análise, painel e qualidade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47616" y="2670048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Fez a análise exploratória e o painel no Looker Studio. Virou o controle de qualidade do grupo: “número que não rodamos é número que não defendemos”.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7680" y="1572768"/>
            <a:ext cx="35052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7136" y="1755648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327136" y="2066544"/>
            <a:ext cx="3066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e automação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27136" y="2670048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Construiu o data lake no Google Cloud por código e a esteira que publica tudo com aprovação humana.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2336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PALAVRAS SIMPLES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434840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ficou só na sua especialidade — e os três erros graves que corrigimos no projeto nasceram justamente nas fronteiras entre as frentes, nunca dentro de uma delas.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3892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E5EDF6"/>
          </a:solidFill>
          <a:ln w="12700">
            <a:solidFill>
              <a:srgbClr val="E5ED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138928"/>
            <a:ext cx="10552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IA para escrever a maior parte do código. O que ficou com a gente: escolher a pergunta, desconfiar do resultado e declarar os limites.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Kenzie sabe informar. Não sabe resolver.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medições, no semestre de fevereiro a agosto — 36.000 conversas e 405.073 mensagens.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836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25,2%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88366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tudo que a Kenzie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sozinha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8366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assunto é informação — saldo, taxa, horário — ela resolve 45,9%. Quando o cliente pede uma ação — desbloquear um PIX, subir um limite — cai para 20,9%. E a ação é 47,7% de tudo que chega.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15,9%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12724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casos que chegam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humano também falham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12724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só do bot. E as nove áreas internas falham na mesma proporção — o que aponta para o processo, não para uma equipe específica.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79392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7E7E4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708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B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8.391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437083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não chegam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ninguém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437083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desiste em 4,4 minutos, antes de qualquer atendente. São 27% de toda a demanda — invisíveis em qualquer relatório de atendimento, porque nunca abriram um ticket.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412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15,9% eram 32,0% na nossa primeira versão: o denominador estava errado e excluía três em cada cinco casos resolvidos. Corrigimos e retratamos duas conclusões que dependiam dele.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está piorando mês a mês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20624" y="1481328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81328"/>
            <a:ext cx="40233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27264" y="1700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GRÁFICO MOSTRA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827264" y="19568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30,9% → 22,5%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827264" y="2487168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Kenzie resolve cada vez menos, e nada no bot mudou nesse período.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explicação é o desgaste do cliente: no começo da série quase todo mundo é primeiro contato. Com os meses, a carteira acumula quem já tentou e voltou — e quem volta é atendido pior.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de cima cai menos: o humano está absorvendo a queda do bot.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" y="5330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PALAVRAS SIMPLES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5532120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memória, o problema se acumula: cada retorno do cliente piora o atendimento seguinte, e o custo disso vai todo para a fila do humano.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ACHAMOS QUE DAVA PARA MELHORAR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mudanças, nenhuma delas “trocar o bot”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052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37360"/>
            <a:ext cx="420624" cy="420624"/>
          </a:xfrm>
          <a:prstGeom prst="ellipse">
            <a:avLst/>
          </a:prstGeom>
          <a:solidFill>
            <a:srgbClr val="2B5A8A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37360"/>
            <a:ext cx="253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memória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322576"/>
            <a:ext cx="3066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Kenzie não sabe que este cliente já voltou quatro vezes pelo mesmo motivo. Guardar o histórico por cliente é a base de tudo o que vem depois.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1536192"/>
            <a:ext cx="35052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7616" y="1737360"/>
            <a:ext cx="420624" cy="420624"/>
          </a:xfrm>
          <a:prstGeom prst="ellipse">
            <a:avLst/>
          </a:prstGeom>
          <a:solidFill>
            <a:srgbClr val="2B5A8A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761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77968" y="1737360"/>
            <a:ext cx="253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Prever antes de falhar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47616" y="2322576"/>
            <a:ext cx="3066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minuto zero da conversa, antes de qualquer tentativa, estimar a chance de a Kenzie não conseguir resolver — com o que já se sabe naquele momento.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1536192"/>
            <a:ext cx="35052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7136" y="1737360"/>
            <a:ext cx="420624" cy="420624"/>
          </a:xfrm>
          <a:prstGeom prst="ellipse">
            <a:avLst/>
          </a:prstGeom>
          <a:solidFill>
            <a:srgbClr val="2B5A8A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713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57488" y="1737360"/>
            <a:ext cx="253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a previsão em decisão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7136" y="2322576"/>
            <a:ext cx="3066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nota que ninguém usa não vale nada. A nota entra na operação como ordem de fila: quem fica com o bot, quem vai para observação, quem vai direto ao humano.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782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DELIBERADAMENTE FICOU FORA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5254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a Kenzie por outro bot   ·   </a:t>
            </a:r>
            <a:pPr indent="0" marL="0">
              <a:buNone/>
            </a:pPr>
            <a:r>
              <a:rPr lang="en-US" sz="13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mais atendentes   ·   </a:t>
            </a:r>
            <a:pPr indent="0" marL="0">
              <a:buNone/>
            </a:pPr>
            <a:r>
              <a:rPr lang="en-US" sz="13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prometer que o bot passe a executar o que hoje não executa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4946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PALAVRAS SIMPLES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514807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não pede investimento novo: pede que a mesma fila, com as mesmas pessoas, seja atendida na ordem certa.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dado mora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272491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das conversas do WhatsApp (CSV)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743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1463040"/>
            <a:ext cx="640080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157276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· projeto kenzie360 · região us-central1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192024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8376" y="20482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spc="80" kern="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b="1" spc="80" kern="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2523744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original, guardado e datado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1810512"/>
            <a:ext cx="4315968" cy="2359152"/>
          </a:xfrm>
          <a:prstGeom prst="roundRect">
            <a:avLst>
              <a:gd name="adj" fmla="val 1938"/>
            </a:avLst>
          </a:prstGeom>
          <a:solidFill>
            <a:srgbClr val="F4F6F9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901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212848"/>
            <a:ext cx="395020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22128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15584" y="2212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fiel da origem + de onde cada linha veio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705088" y="26700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52928"/>
            <a:ext cx="395020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01184" y="2852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815584" y="2852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limpo, sem duplicidade, sem dado pessoal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705088" y="33101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493008"/>
            <a:ext cx="3950208" cy="548640"/>
          </a:xfrm>
          <a:prstGeom prst="roundRect">
            <a:avLst>
              <a:gd name="adj" fmla="val 6667"/>
            </a:avLst>
          </a:prstGeom>
          <a:solidFill>
            <a:srgbClr val="E5EDF6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01184" y="34930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815584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visões prontas: painel, modelo, monitoramento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862072" y="4242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lê a silver e devolve a nota pronta na gold — a operação nunca calcula nada.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72600" y="1600200"/>
            <a:ext cx="22402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55480" y="17099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555480" y="194767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Studio: fila, faixas e monitoramento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089136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72600" y="2651760"/>
            <a:ext cx="22402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55480" y="27614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555480" y="2999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treina, pontua e publica a nota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089136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372600" y="3703320"/>
            <a:ext cx="22402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55480" y="381304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555480" y="40507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do MVP, com os 49 pesos embutidos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089136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4681728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47731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BAIXO DE TUDO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" y="4974336"/>
            <a:ext cx="10588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 GitHub Actions: nada foi clicado no console. Toda mudança passa por validar → simular → aprovação humana → aplicar, e a nuvem é reconstruível do zero a partir do repositório. Sem senha guardada em lugar nenhum.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557784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6384" y="56784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PALAVRAS SIMPLES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" y="5879592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princípio de um processo bancário: o documento original fica intacto, cada tratamento vira uma cópia nova, e sempre se sabe quem mexeu e quando.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· GOVERNANÇA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dado é cuidado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controles que o escopo do MBA pede — e o que cada um faz na prática.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2574036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2024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VER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31136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tem permissão própria: quem lê a camada limpa não tem acesso ao texto original da conversa.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456432"/>
            <a:ext cx="21717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esteira que publica não guarda nenhuma senha.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8708" y="1755648"/>
            <a:ext cx="2574036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9876" y="192024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VEIO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79876" y="2231136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linha carrega o arquivo de origem e a data em que entrou.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79876" y="3456432"/>
            <a:ext cx="21717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visão publicada tem escrita a pergunta que ela responde.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1755648"/>
            <a:ext cx="2574036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9944" y="192024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 CERTO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231136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do arquivo é declarado antes da carga. Se a origem mudar, a carga falha e avisa — em vez de passar errado.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3456432"/>
            <a:ext cx="21717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tem 18 colunas proibidas: se alguma entrar, o script aborta.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38844" y="1755648"/>
            <a:ext cx="2574036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40012" y="192024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PESSOAL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240012" y="2231136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documento e telefone não existem em nenhuma camada: são mascarados antes de gravar.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40012" y="3456432"/>
            <a:ext cx="21717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é 100% sintética — nenhum cliente real foi usado.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6227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E5EDF6"/>
          </a:solidFill>
          <a:ln w="12700">
            <a:solidFill>
              <a:srgbClr val="E5ED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462272"/>
            <a:ext cx="10552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prova que os controles funcionam não é a lista deles — são os seis erros que eles pegaram, incluindo duas conclusões que publicamos e depois retratamos.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o modelo responde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60704"/>
          </a:xfrm>
          <a:prstGeom prst="roundRect">
            <a:avLst>
              <a:gd name="adj" fmla="val 5172"/>
            </a:avLst>
          </a:prstGeom>
          <a:solidFill>
            <a:srgbClr val="E5EDF6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63040"/>
            <a:ext cx="104790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“Qual é a chance de a Kenzie não conseguir resolver esta conversa sozinha?”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724912"/>
            <a:ext cx="3505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871216"/>
            <a:ext cx="310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CONTA É FEITA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27248"/>
            <a:ext cx="3102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minuto zero.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47872"/>
            <a:ext cx="3102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sai quando a conversa abre, antes de qualquer tentativa de atendimento. Se ela saísse depois, não daria para agir.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2724912"/>
            <a:ext cx="3505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9328" y="2871216"/>
            <a:ext cx="310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QUE ELE DECIDE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29328" y="3127248"/>
            <a:ext cx="3102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informações.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29328" y="3547872"/>
            <a:ext cx="3102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Assunto, perfil do cliente, canal, horário, e — as que mais pesam — quantas vezes esse cliente já voltou e se o caso é uma reabertura.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2724912"/>
            <a:ext cx="3505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8848" y="2871216"/>
            <a:ext cx="310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SAI DISSO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08848" y="3127248"/>
            <a:ext cx="3102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número de 0 a 1.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08848" y="3547872"/>
            <a:ext cx="3102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 é uma conversa que provavelmente se resolve sozinha. 0,85 é uma que provavelmente vai falhar. Fica gravado junto com a conversa.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919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DESTE, TÍNHAMOS OUTRO — E JOGAMOS FORA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175504"/>
            <a:ext cx="10552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classificador de intenção com 99,99% de acerto.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estava lendo o assunto num texto que o próprio sistema havia escrito a partir do assunto — descobria uma resposta que já estava na tabela. O número era real e não significava nada. A regra que ficou: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acerta quase tudo, desconfie da variável.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ESCOLHEMOS ESTE MODELO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logística: a escolha é pela auditoria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modelo mais simples da lista — e é essa a vantagem. Num banco, uma decisão que não se explica não pode ser usada.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920240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pode ser lida linha por linha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67712"/>
            <a:ext cx="49560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uma soma de pesos, um por informação. Dá para dizer por que ESTA conversa recebeu 0,85 e não 0,60 — e qual pedaço da nota veio de qual informação. Um modelo mais moderno acerta parecido e não responde a essa pergunta.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73936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37376" y="1920240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Qualquer um refaz a conta, sem o nosso ambiente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437376" y="2267712"/>
            <a:ext cx="49560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49 pesos do modelo estão publicados. O auditor não precisa do nosso código nem da nossa nuvem para conferir uma nota: a demonstração no fim desta apresentação roda a mesma conta dentro do navegador, sem servidor.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349300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dado, mesmo número, sempre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840480"/>
            <a:ext cx="49560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reproduzimos o modelo em duas máquinas diferentes e chegamos ao mesmo resultado até a quarta casa decimal. A separação entre treino e teste é por cliente, com zero clientes em comum — o modelo não pode ter “decorado” ninguém.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346704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7376" y="349300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Dá para provar o que ficou fora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3840480"/>
            <a:ext cx="49560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colunas são proibidas por construção: informação que só existe depois do fim da conversa, e qualquer coisa que possa identificar a pessoa. Se uma delas entrar, o script para e acusa.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50657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NÃO CUSTOU DESEMPENHO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303520"/>
            <a:ext cx="10552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sete modelos mais complexos — random forest, árvores, gradient boosting, XGBoost.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superou a regressão logística.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limite não está no algoritmo: está na informação que existe no minuto zero. Então a caixa-preta traria custo de explicação sem ganho de acerto.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acerta o quanto esta base permite acertar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 é o AUC: pegue duas conversas, uma que falhou e uma que deu certo —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67 de cada 100 desses pares o modelo dá a nota maior à que falhou.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Medido em 7.712 conversas que ele nunca viu, de clientes que não estavam no treino.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01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 ACASO E O MÁXIMO QUE ESTA BASE PERMITE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0" y="2615184"/>
            <a:ext cx="10058400" cy="310896"/>
          </a:xfrm>
          <a:prstGeom prst="roundRect">
            <a:avLst>
              <a:gd name="adj" fmla="val 11765"/>
            </a:avLst>
          </a:prstGeom>
          <a:solidFill>
            <a:srgbClr val="DAE0EA"/>
          </a:solidFill>
          <a:ln w="12700">
            <a:solidFill>
              <a:srgbClr val="DA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15184"/>
            <a:ext cx="10017842" cy="310896"/>
          </a:xfrm>
          <a:prstGeom prst="roundRect">
            <a:avLst>
              <a:gd name="adj" fmla="val 11765"/>
            </a:avLst>
          </a:prstGeom>
          <a:solidFill>
            <a:srgbClr val="2B5A8A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4512" y="2450592"/>
            <a:ext cx="36576" cy="640080"/>
          </a:xfrm>
          <a:prstGeom prst="rect">
            <a:avLst/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40402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modelo · 0,6729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 — o acaso, o mesmo que tirar cara ou coroa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0,6736 — o máximo que esta base permite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493008"/>
            <a:ext cx="10479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99,6%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máximo possível.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entre o nosso modelo e o teto desta base é 0,0007.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35052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791456"/>
            <a:ext cx="3102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FALAMOS EM ACERTO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047488"/>
            <a:ext cx="3102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Chutando “não resolve” em toda conversa já se acerta 70,5%. O modelo acerta 72,8%. O ganho dele está em ordenar a fila, não em acertar mais.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8160" y="4645152"/>
            <a:ext cx="35052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9328" y="4791456"/>
            <a:ext cx="3102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SABEMOS QUAL É O MÁXIMO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29328" y="5047488"/>
            <a:ext cx="3102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escrevemos o gerador da base, então conhecemos a regra que sorteia o desfecho. O teto foi calculado antes de treinar — não é estimativa.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07680" y="4645152"/>
            <a:ext cx="350520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8848" y="4791456"/>
            <a:ext cx="3102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OS MODELOS MAIS COMPLEXOS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308848" y="5047488"/>
            <a:ext cx="31028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0,6684. Árvores, gradient boosting e XGBoost: nenhum superou. O limite é a informação disponível, não o algoritmo.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nota virando decisão de operação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505200" cy="2487168"/>
          </a:xfrm>
          <a:prstGeom prst="roundRect">
            <a:avLst>
              <a:gd name="adj" fmla="val 2206"/>
            </a:avLst>
          </a:prstGeom>
          <a:solidFill>
            <a:srgbClr val="E6F0EA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682496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2A65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956816"/>
            <a:ext cx="302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abaixo de 0,65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67712"/>
            <a:ext cx="302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26,9%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834640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fila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127248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Kenzie resolve 47,5%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438144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65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deixar com a Kenzie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8160" y="1517904"/>
            <a:ext cx="3505200" cy="2487168"/>
          </a:xfrm>
          <a:prstGeom prst="roundRect">
            <a:avLst>
              <a:gd name="adj" fmla="val 2206"/>
            </a:avLst>
          </a:prstGeom>
          <a:solidFill>
            <a:srgbClr val="F7EDE2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5904" y="1682496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94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1956816"/>
            <a:ext cx="302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0,65 a 0,80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2267712"/>
            <a:ext cx="302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40,2%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2834640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fila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65904" y="3127248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Kenzie resolve 27,6%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65904" y="3438144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fila de observação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07680" y="1517904"/>
            <a:ext cx="3505200" cy="2487168"/>
          </a:xfrm>
          <a:prstGeom prst="roundRect">
            <a:avLst>
              <a:gd name="adj" fmla="val 2206"/>
            </a:avLst>
          </a:prstGeom>
          <a:solidFill>
            <a:srgbClr val="F7E7E4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5424" y="1682496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9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45424" y="1956816"/>
            <a:ext cx="302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0,80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45424" y="2267712"/>
            <a:ext cx="302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32,9%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8345424" y="2834640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fila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45424" y="3127248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Kenzie resolve 17,1%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45424" y="3438144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encaminhar agora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33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cortes não saíram da estatística: saíram da capacidade real medida na operação — 11,8 atendimentos por pessoa/dia, 74% de uso médio da equipe, 123% no pico.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608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41D33"/>
          </a:solidFill>
          <a:ln w="12700">
            <a:solidFill>
              <a:srgbClr val="141D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4608576"/>
            <a:ext cx="10479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73,1%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fila cai em Médio ou Alto — e a operação já encaminha 73,8% ao humano hoje.  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48640" y="561441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" y="5715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PALAVRAS SIMPLES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5916168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pede mais gente: pede que a mesma fila seja atendida em outra ordem. É uma mudança de processo, não de orçamento.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cada número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cadeia inteira, da base bruta até as horas — para qualquer um refazer a conta.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254660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10512"/>
            <a:ext cx="21808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36.000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12848"/>
            <a:ext cx="2180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na base v8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17/02 a 17/08/2026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095244" y="206654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7852" y="1700784"/>
            <a:ext cx="254660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0732" y="1810512"/>
            <a:ext cx="21808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− 4.958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70732" y="2212848"/>
            <a:ext cx="2180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ativo e ruído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geram atendimento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34456" y="206654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27064" y="1700784"/>
            <a:ext cx="254660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9944" y="1810512"/>
            <a:ext cx="21808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31.042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212848"/>
            <a:ext cx="2180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reais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nosso denominador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773668" y="206654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66276" y="1700784"/>
            <a:ext cx="2546604" cy="1024128"/>
          </a:xfrm>
          <a:prstGeom prst="roundRect">
            <a:avLst>
              <a:gd name="adj" fmla="val 5357"/>
            </a:avLst>
          </a:prstGeom>
          <a:solidFill>
            <a:srgbClr val="E5EDF6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49156" y="1810512"/>
            <a:ext cx="21808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21.958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49156" y="2212848"/>
            <a:ext cx="2180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resolvidas pela Kenzie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outras 9.084 = 25,2% das 36.000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braços estão abaixo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71216"/>
            <a:ext cx="539496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29809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13.567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a um humano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3438144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Esperam 13,1 min em média antes do atendente — é o tempo de menu, não a duração do atendimento.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3950208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13.567 × 13,1 min = 2.966 h de espera no semestre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871216"/>
            <a:ext cx="5394960" cy="1408176"/>
          </a:xfrm>
          <a:prstGeom prst="roundRect">
            <a:avLst>
              <a:gd name="adj" fmla="val 3896"/>
            </a:avLst>
          </a:prstGeom>
          <a:solidFill>
            <a:srgbClr val="F7E7E4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7376" y="29809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3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8.391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chegam a ninguém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37376" y="3438144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Desistem em 4,4 min, sem abrir ticket. 6.910 delas sem nenhuma tentativa de transferência.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37376" y="3950208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8.391 ÷ 31.042 = 27% de toda a demanda real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4439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AÍ A DECISÃO: QUAL PEDAÇO DA FILA ENCAMINHAR DIRETO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36592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  <a:gridCol w="1554480"/>
                <a:gridCol w="2103120"/>
                <a:gridCol w="2103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fila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incomoda à toa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devolvidas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de maior 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 pessoas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Alto (&gt; 0,80) — adotado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434 pessoas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 + Alto (&gt; 0,65)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1.287 pessoas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33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548640" y="60899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Escolhemos a faixa Alto: devolve 1.142 h e incomoda 434 pessoas à toa. O corte de 20% é a alternativa conservadora — menos horas, menos gente incomodada. É uma decisão de negócio, não de estatística.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E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Kenzie 360 ao vivo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cliente, o mesmo assunto — e a decisão mudando conforme ele volta.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49 pesos do modelo treinado estão dentro da página. A conta é a mesma do notebook, e roda sem servidor e sem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Kenzie 360 entrega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resultados, todos medidos na base e todos executáveis com a operação que já existe.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3505200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65376"/>
            <a:ext cx="302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1.142 h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505456"/>
            <a:ext cx="302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espera devolvidas no semestre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127248"/>
            <a:ext cx="3029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Encaminhando direto a faixa Alto. Sem contratar ninguém: a operação já encaminha 73,8% ao humano — muda a ordem, não o volume.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8160" y="1700784"/>
            <a:ext cx="3505200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865376"/>
            <a:ext cx="302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8.391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505456"/>
            <a:ext cx="302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que ninguém via passam a ser visíveis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127248"/>
            <a:ext cx="3029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que desiste em 4,4 min nunca abriu ticket e não existe em relatório nenhum. O modelo dá a ele a nota média mais alta das três faixas.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7680" y="1700784"/>
            <a:ext cx="3505200" cy="2450592"/>
          </a:xfrm>
          <a:prstGeom prst="roundRect">
            <a:avLst>
              <a:gd name="adj" fmla="val 2239"/>
            </a:avLst>
          </a:prstGeom>
          <a:solidFill>
            <a:srgbClr val="E5EDF6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5424" y="1865376"/>
            <a:ext cx="302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5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50,1%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345424" y="2505456"/>
            <a:ext cx="3029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espera está em três assuntos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3127248"/>
            <a:ext cx="3029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TED/PIX, Onboarding e Câmbio concentram metade de toda a espera do semestre. É o roteiro de produto do próximo ciclo, em ordem.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3425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E5EDF6"/>
          </a:solidFill>
          <a:ln w="12700">
            <a:solidFill>
              <a:srgbClr val="E5ED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334256"/>
            <a:ext cx="10552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cada uma dessas decisões pode ser aberta fator a fator: por que esta conversa recebeu esta nota, e o que mudaria se um fator fosse diferente.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30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Declaramos: a base é 100% sintética — o projeto demonstra o método, não a magnitude. O desgaste do cliente e os 27% de desistência são premissas nossas. A carga incremental foi demonstrada, não posta em produção, e o retreino automático está desenhado, não implementado.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07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· MATERIAL DE APOIO PARA PERGUNTAS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4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declarados e próximos passos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078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7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DECLARAMOS COMO LIMITE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11680"/>
            <a:ext cx="49194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é 100% sintética: demonstra o método, não a magnitude. Trocar por dado real é trocar o arquivo de entrada — a pipeline não muda.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desgaste acumulado do cliente e os 27% de desistência são premissas que nós escrevemos no gerador.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carga incremental foi demonstrada em um lote novo de 1.227 conversas, não posta em produção.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retreino automático está desenhado e não implementado.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ambiente está descrito em Terraform e não provisionado.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17904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E5EDF6"/>
          </a:solidFill>
          <a:ln w="9525">
            <a:solidFill>
              <a:srgbClr val="DA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70078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DEPOIS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2011680"/>
            <a:ext cx="49194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de intenção: entender o cliente que escreve em vez de clicar no menu.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os cortes das faixas com a capacidade real da operação, mês a mês.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ciclo de aprendizado: o desfecho de cada conversa vira exemplo novo e realimenta o modelo.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a carga incremental em produção.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93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a fila de correção pelos três assuntos que concentram 50,1% da espera.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8523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2B5A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5385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B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PALAVRAS SIMPLES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5586984"/>
            <a:ext cx="10588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aqui é surpresa de última hora: os limites estão escritos nos documentos entregues, e os cinco próximos passos já têm dono e ordem.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Kenzie 360</dc:title>
  <dc:subject>PptxGenJS Presentation</dc:subject>
  <dc:creator>Ilan Schapira, Giovanna Protti, Jonathas Borges</dc:creator>
  <cp:lastModifiedBy>Ilan Schapira, Giovanna Protti, Jonathas Borges</cp:lastModifiedBy>
  <cp:revision>1</cp:revision>
  <dcterms:created xsi:type="dcterms:W3CDTF">2026-09-13T23:30:46Z</dcterms:created>
  <dcterms:modified xsi:type="dcterms:W3CDTF">2026-09-13T23:30:46Z</dcterms:modified>
</cp:coreProperties>
</file>